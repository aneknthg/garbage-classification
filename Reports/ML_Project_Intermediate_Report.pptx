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718"/>
  </p:normalViewPr>
  <p:slideViewPr>
    <p:cSldViewPr snapToGrid="0">
      <p:cViewPr varScale="1">
        <p:scale>
          <a:sx n="91" d="100"/>
          <a:sy n="91" d="100"/>
        </p:scale>
        <p:origin x="192" y="6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6A40D-30EE-AD44-9099-F7D59D401B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9BD952-3439-1188-B9D2-35FA4ACA2E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26434D-1E37-7306-E456-3FD62D79E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0FAA3-B600-9048-8A53-FCF6D888AEA3}" type="datetimeFigureOut">
              <a:rPr lang="en-US" smtClean="0"/>
              <a:t>11/2/25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049703-B260-C8F8-F96F-CBD3F2AB6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470B87-9D49-F863-2644-3A8EE3473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D76A-65DF-0F41-B7D5-DD1DBF3565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6013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09EFC-6F1C-4B15-4125-F0D657B61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26ED92-1731-5988-8D52-AFEE8105CD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77C142-29F9-0C3C-F292-A41EB7E50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0FAA3-B600-9048-8A53-FCF6D888AEA3}" type="datetimeFigureOut">
              <a:rPr lang="en-US" smtClean="0"/>
              <a:t>11/2/25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9435B-1A3B-6594-2F8D-9169CCA19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1116E4-3A06-E678-95AB-79A96BE25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D76A-65DF-0F41-B7D5-DD1DBF3565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5168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7F721-F784-AD38-0AD5-1A61229FB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1DA001-D2B9-3A4D-C543-C960B0F818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9AC976-D051-9F70-2C7E-160521F97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0FAA3-B600-9048-8A53-FCF6D888AEA3}" type="datetimeFigureOut">
              <a:rPr lang="en-US" smtClean="0"/>
              <a:t>11/2/25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C4B5A3-92A9-DB3A-72FF-B1C106CF0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17812C-C4E4-EE02-EBEA-A9DB576C4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D76A-65DF-0F41-B7D5-DD1DBF3565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9938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80D93-C42C-B866-59EF-27C0A0F2D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68C482-EFC5-7E16-AC6E-7FDD5129A4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2FA740-2280-A01A-89A2-D88FB5C73B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F65270-EC49-6C8A-7231-EA6432A56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0FAA3-B600-9048-8A53-FCF6D888AEA3}" type="datetimeFigureOut">
              <a:rPr lang="en-US" smtClean="0"/>
              <a:t>11/2/25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94F2C0-0348-D4B0-31C3-22FD8BB05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0073D9-E004-1AD3-A1E0-DA71599AC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D76A-65DF-0F41-B7D5-DD1DBF3565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286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521A4-B6F2-14AA-62E0-B608EC08A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1E7D40-6B0D-3773-BE1E-0F0C3AED95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698376-F788-B93D-BF6B-1E49FA97C3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6FE848-F673-7A6B-6B67-41AB96A216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10E4D6-79D0-E543-E7C8-A71F8B7054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75C709-661D-5425-F722-A34B3D74C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0FAA3-B600-9048-8A53-FCF6D888AEA3}" type="datetimeFigureOut">
              <a:rPr lang="en-US" smtClean="0"/>
              <a:t>11/2/25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9529A8-FA26-1AE5-6844-A8F2E9473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E4FA9A-5D77-F3A9-AA8A-43B7FC444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D76A-65DF-0F41-B7D5-DD1DBF3565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309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F3814-0413-F1C4-695F-7AE8F277B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0AC429-E4E8-3739-27EE-68FC0B40A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0FAA3-B600-9048-8A53-FCF6D888AEA3}" type="datetimeFigureOut">
              <a:rPr lang="en-US" smtClean="0"/>
              <a:t>11/2/25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A06375-669A-AACE-6260-11DBF8674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BADF5-FE41-8766-9841-0AA2E86A5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D76A-65DF-0F41-B7D5-DD1DBF3565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65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0FE05B-C934-118E-5EA4-E4FE7C14C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0FAA3-B600-9048-8A53-FCF6D888AEA3}" type="datetimeFigureOut">
              <a:rPr lang="en-US" smtClean="0"/>
              <a:t>11/2/25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C5B79F-B089-70AA-4EBB-641ED2BB0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4EC232-CFF4-08ED-8436-3229FBB35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D76A-65DF-0F41-B7D5-DD1DBF3565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9283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A04BA-B583-B9A6-01FD-D0CAF52E6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1C61E-C879-162E-AA5C-8864154DA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C9D249-EE35-022A-9B56-294B7C5012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950BD7-0DE7-7557-BC54-3BDABD62B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0FAA3-B600-9048-8A53-FCF6D888AEA3}" type="datetimeFigureOut">
              <a:rPr lang="en-US" smtClean="0"/>
              <a:t>11/2/25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49DE73-7DB6-E31E-3057-E8FFB769B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757362-54C6-F750-33B9-6BFC4EB1C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D76A-65DF-0F41-B7D5-DD1DBF3565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3685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90E8F-2322-4537-8B39-3A84028F2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F13951-7C65-2B36-C526-CB8E5AE75F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633D8E-E041-1DBC-7DB9-91FC0DCA6C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54098A-3480-AD51-C70B-BDE7256F3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0FAA3-B600-9048-8A53-FCF6D888AEA3}" type="datetimeFigureOut">
              <a:rPr lang="en-US" smtClean="0"/>
              <a:t>11/2/25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1C2BB1-4C42-6B9D-135B-EDD3A9790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7BA645-3C7E-73EA-D5CB-F6D5FF5EE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D76A-65DF-0F41-B7D5-DD1DBF3565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4065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810EE-A22E-BCE5-7047-7B8EBA81A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162706-3CF3-362C-8E64-34BB9C909C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E7A895-2FEA-B824-4A81-CF5537746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0FAA3-B600-9048-8A53-FCF6D888AEA3}" type="datetimeFigureOut">
              <a:rPr lang="en-US" smtClean="0"/>
              <a:t>11/2/25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CE7FC-1DB6-5260-916A-5C5ECCAE5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DFB8AA-9560-37E1-467D-A1F96C21B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D76A-65DF-0F41-B7D5-DD1DBF3565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7386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316369-2EF7-33E9-EA75-8A21D94E52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0F2707-E6C8-8B2D-ADBE-975DE51D25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D6AD29-F2B0-725C-E6C4-062C04EFD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0FAA3-B600-9048-8A53-FCF6D888AEA3}" type="datetimeFigureOut">
              <a:rPr lang="en-US" smtClean="0"/>
              <a:t>11/2/25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A73CD4-D0D3-EF45-CE8E-A689643B1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21E37A-6C39-84F7-2AC0-7286623DB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D76A-65DF-0F41-B7D5-DD1DBF3565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590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DA2FFD-5E48-9174-5A5C-BDE2D7A8D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11FF7C-5E52-6565-3158-27D7DCD71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7EB452-322F-A6C9-E453-1940D3985B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20FAA3-B600-9048-8A53-FCF6D888AEA3}" type="datetimeFigureOut">
              <a:rPr lang="en-US" smtClean="0"/>
              <a:t>11/2/25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9B6E6C-7566-8F78-3D99-B36C63DBA9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AE2D1E-0DB0-EDAF-4817-17B520E06D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57D76A-65DF-0F41-B7D5-DD1DBF3565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465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062BC-20B7-2A93-3E94-09939D5D3E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1122363"/>
            <a:ext cx="9618133" cy="238760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Garbage Classification Using Deep Learning Neural Networks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3033AA-D100-0C90-038A-EF7FDD93D8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PRML Intermediate Report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Anek Anjireddy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ee22btech11007</a:t>
            </a:r>
          </a:p>
        </p:txBody>
      </p:sp>
    </p:spTree>
    <p:extLst>
      <p:ext uri="{BB962C8B-B14F-4D97-AF65-F5344CB8AC3E}">
        <p14:creationId xmlns:p14="http://schemas.microsoft.com/office/powerpoint/2010/main" val="37515529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4F548-66F0-D364-E1B8-B71B7F62B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 &amp; Context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2700BB-B1C7-7FB6-059B-913BD2AD3C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549444" cy="4405842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problem of improper waste segregation remains a major challenge in sustainable urban management.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efficient solution to this problem are deep learning neural networks such as Convolutional Neural Networks (CNNs).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CNNs are powerful models capable of learning spatial and visual patterns directly from image data.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takes input as waste images and predicts the category each image belongs to.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goal is to build a deployable and efficient classification framework that generalizes across different datasets and real-world waste images.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 descr="A diagram of a network&#10;&#10;AI-generated content may be incorrect.">
            <a:extLst>
              <a:ext uri="{FF2B5EF4-FFF2-40B4-BE49-F238E27FC236}">
                <a16:creationId xmlns:a16="http://schemas.microsoft.com/office/drawing/2014/main" id="{86F23F47-E0DD-07B5-DF5D-8BE9275CCD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2409"/>
          <a:stretch>
            <a:fillRect/>
          </a:stretch>
        </p:blipFill>
        <p:spPr>
          <a:xfrm>
            <a:off x="8387644" y="2332685"/>
            <a:ext cx="3668368" cy="3337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2597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D24E0-0101-2321-1718-4C03B25D5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 &amp; Context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53F39A-E283-4667-FC09-4544FEB4FD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waste management has become a global challenge, as manual segregation is slow, unsafe, and prone to errors.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and computer vision enable automated waste classification, improving accuracy and efficiency in recycling and disposal processes.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addresses the challenge of robust waste classification using deep learning, aiming to improve generalization across diverse datasets and real-world waste images.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key motivation is to develop an efficient yet deployable architecture that maintains high classification quality while reducing computational cost.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41770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34F25A-20EB-8B61-EBDE-562B5D788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8A81F-027B-E86F-29C3-9A5FA1D17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and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5E2743-C610-5976-1347-8EC6F27774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3714"/>
            <a:ext cx="10515600" cy="3733515"/>
          </a:xfrm>
        </p:spPr>
        <p:txBody>
          <a:bodyPr>
            <a:normAutofit fontScale="85000" lnSpcReduction="2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Automate the process of garbage classification using deep learning for accurate and scalable waste segregation.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Develop a model that can classify waste images into various categories. (Binary for now, to be expanded to 5-6 classes).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Goals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 baseline CNN model capable of achieving consistent performance on curated datasets.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 the framework to multi-class classification (5–6 categories) using diverse datasets.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the trained model on real-life waste images from the IITH campus to validate robustness.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58AA0D60-9B00-2D07-0FDC-C4D74410CD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5257229"/>
            <a:ext cx="10515600" cy="1235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375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20C4C-C7C2-089C-3CEE-D58C2F8D0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Approach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343253-18B0-0965-69CB-0E9294AD3E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7"/>
            <a:ext cx="10515600" cy="4619801"/>
          </a:xfrm>
        </p:spPr>
        <p:txBody>
          <a:bodyPr>
            <a:no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and Preprocessing:</a:t>
            </a:r>
            <a:b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is sourced from publicly available datasets. Images are resized, normalized, and augmented (rotation, flip, zoom, contrast) to improve generalization and simulate real-world variability.</a:t>
            </a: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Architecture (Version 1):</a:t>
            </a:r>
            <a:b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baseline model is EfficientNetB0 trained for binary or limited-class classification. It serves as a foundation for performance benchmarking and metric tuning.</a:t>
            </a: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Optimization (Version 2):</a:t>
            </a:r>
            <a:b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second version introduces deeper architectures, dropout regularization, and learning rate scheduling. Evaluation uses Precision, Recall, and F1-best threshold to optimize classification balance beyond raw accuracy.</a:t>
            </a: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Multi-Class Expansion:</a:t>
            </a:r>
            <a:b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framework will be extended to handle 5–6 distinct classes (e.g., paper, plastic, metal, glass, organic, others).</a:t>
            </a: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Cross-Dataset and Real-World Testing:</a:t>
            </a:r>
            <a:b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final model will be validated on unseen datasets and real images from the IITH campus, assessing robustness under varied lighting and background conditions.</a:t>
            </a:r>
          </a:p>
        </p:txBody>
      </p:sp>
    </p:spTree>
    <p:extLst>
      <p:ext uri="{BB962C8B-B14F-4D97-AF65-F5344CB8AC3E}">
        <p14:creationId xmlns:p14="http://schemas.microsoft.com/office/powerpoint/2010/main" val="31091381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8AA4D-DF11-D0DC-D736-74430ACBA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Intermediate Result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B25D1D-6698-A345-6093-F3C80544F1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running the model a couple of times with different learning rates and small modifications in neural network's layers, these are the best results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i've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gotten.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0.9587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val_auc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0.9866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loss: 0.2061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 is the Output: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Improvements: Will check for other metrics like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precision,recall,etc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/>
          </a:p>
        </p:txBody>
      </p:sp>
      <p:pic>
        <p:nvPicPr>
          <p:cNvPr id="6" name="Picture 5" descr="A close-up of numbers&#10;&#10;AI-generated content may be incorrect.">
            <a:extLst>
              <a:ext uri="{FF2B5EF4-FFF2-40B4-BE49-F238E27FC236}">
                <a16:creationId xmlns:a16="http://schemas.microsoft.com/office/drawing/2014/main" id="{894A50CD-F468-1369-C4E1-7ADD1FB08F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807" y="3429000"/>
            <a:ext cx="10543993" cy="1810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35840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3C357-F519-B190-E8FB-417FF2A3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5E0B53-ABE1-ABAC-4C78-DC99D3A4D5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Learned (and learning) end-to-end workflow of data preprocessing, model tuning, and evaluation.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Faced a challenge where the dataset had no validation split — resolved by creating a custom, class-balanced split with fixed seed for reproducibility.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Dealt with class imbalance and low-quality images through augmentation and weighted loss functions.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Understood the value of optimizing models using F1-best threshold, not just accuracy, for balanced performance.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Gained insight into practical deployment trade-offs between model complexity, accuracy, and inference time.</a:t>
            </a:r>
          </a:p>
        </p:txBody>
      </p:sp>
    </p:spTree>
    <p:extLst>
      <p:ext uri="{BB962C8B-B14F-4D97-AF65-F5344CB8AC3E}">
        <p14:creationId xmlns:p14="http://schemas.microsoft.com/office/powerpoint/2010/main" val="42555782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59EE1-8324-F1B1-3380-CD68382E6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Further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1AE0E6-D11E-F08D-306E-563A3B64CE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immediate nest step is to work on Version 2 and fine tuning the model. I'm looking to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optimise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model on metrics (like Precision,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Recall,etc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.) other than just raw accuracy. To do so I plan on using the F1-best threshold metric.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Following this, I'll expand the project to multi-class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classification.I'm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currently aiming for 5-6 classes. I will train this model on various datasets to ensure generalization.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the model on real-life waste images from the IITH campus to assess real-world performance.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longer term, I aim to extend the framework toward object detection, using architectures such as YOLO or Faster R-CNN, enabling the system to not only classify but also locate and label individual waste items within an image.</a:t>
            </a:r>
          </a:p>
        </p:txBody>
      </p:sp>
    </p:spTree>
    <p:extLst>
      <p:ext uri="{BB962C8B-B14F-4D97-AF65-F5344CB8AC3E}">
        <p14:creationId xmlns:p14="http://schemas.microsoft.com/office/powerpoint/2010/main" val="26646796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62DC8-2AD9-4BCC-A0D2-367542D4F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842168"/>
            <a:ext cx="10515600" cy="2852737"/>
          </a:xfrm>
        </p:spPr>
        <p:txBody>
          <a:bodyPr/>
          <a:lstStyle/>
          <a:p>
            <a:pPr algn="ctr"/>
            <a:r>
              <a:rPr lang="en-US" dirty="0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844B23-BDA9-02B6-EF3A-17719818A0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5210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340</TotalTime>
  <Words>760</Words>
  <Application>Microsoft Macintosh PowerPoint</Application>
  <PresentationFormat>Widescreen</PresentationFormat>
  <Paragraphs>49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Times New Roman</vt:lpstr>
      <vt:lpstr>Office Theme</vt:lpstr>
      <vt:lpstr>Garbage Classification Using Deep Learning Neural Networks</vt:lpstr>
      <vt:lpstr>Motivation &amp; Context</vt:lpstr>
      <vt:lpstr>Motivation &amp; Context</vt:lpstr>
      <vt:lpstr>Problem Statement and Goals</vt:lpstr>
      <vt:lpstr>Approach</vt:lpstr>
      <vt:lpstr>Intermediate Result</vt:lpstr>
      <vt:lpstr>Learning</vt:lpstr>
      <vt:lpstr>Further Steps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Anek Anjireddy</dc:creator>
  <cp:lastModifiedBy>Anek Anjireddy</cp:lastModifiedBy>
  <cp:revision>1</cp:revision>
  <dcterms:created xsi:type="dcterms:W3CDTF">2025-11-02T12:41:49Z</dcterms:created>
  <dcterms:modified xsi:type="dcterms:W3CDTF">2025-11-02T18:22:27Z</dcterms:modified>
</cp:coreProperties>
</file>